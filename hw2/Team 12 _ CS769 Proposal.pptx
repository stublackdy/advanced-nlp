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HKUDS/MiniRAG" TargetMode="External"/><Relationship Id="rId3" Type="http://schemas.openxmlformats.org/officeDocument/2006/relationships/hyperlink" Target="https://github.com/HKUDS/LightRAG"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92add6909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892add6909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Project Description: What is the problem?</a:t>
            </a:r>
            <a:endParaRPr/>
          </a:p>
          <a:p>
            <a:pPr indent="0" lvl="0" marL="0" rtl="0" algn="l">
              <a:lnSpc>
                <a:spcPct val="100000"/>
              </a:lnSpc>
              <a:spcBef>
                <a:spcPts val="0"/>
              </a:spcBef>
              <a:spcAft>
                <a:spcPts val="0"/>
              </a:spcAft>
              <a:buSzPts val="1100"/>
              <a:buNone/>
            </a:pPr>
            <a:r>
              <a:rPr lang="en-GB"/>
              <a:t>1. What is the input and output format of the tasks? If your problem requires multiple datasets, try to clearly define them in math notations.</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GB"/>
              <a:t>Input: Context database of the user, Set of queries- Textual format. (Reference: LiHua Dataset (artificially generated using gpt 4o mini)) - x, y, num of datapoints, train-test-split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2. What are the objectives of the problem? (e.g., learn a classifier, prevent models from forgetting fine-tuning tasks). Clearly define the scope of the project. If your project idea involves building multiple ML models, try to narrow the scope and pick the most critical model that is still weak and has large room for improvement.</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GB"/>
              <a:t>Evaluate current MiniRAG architecture on SLMs.</a:t>
            </a:r>
            <a:endParaRPr/>
          </a:p>
          <a:p>
            <a:pPr indent="-298450" lvl="0" marL="457200" rtl="0" algn="l">
              <a:lnSpc>
                <a:spcPct val="100000"/>
              </a:lnSpc>
              <a:spcBef>
                <a:spcPts val="0"/>
              </a:spcBef>
              <a:spcAft>
                <a:spcPts val="0"/>
              </a:spcAft>
              <a:buSzPts val="1100"/>
              <a:buChar char="-"/>
            </a:pPr>
            <a:r>
              <a:rPr lang="en-GB"/>
              <a:t>Use 2-3 techniques from Advanced RAG (pre-retrieval or post retrieval) to improve upon current Graph RAG.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3. [Optional] </a:t>
            </a:r>
            <a:r>
              <a:rPr lang="en-GB">
                <a:solidFill>
                  <a:schemeClr val="dk1"/>
                </a:solidFill>
              </a:rPr>
              <a:t>Given a figure to illustrate an example on the right empty space. Figure from 2-3 component</a:t>
            </a:r>
            <a:endParaRPr/>
          </a:p>
          <a:p>
            <a:pPr indent="0" lvl="0" marL="0" rtl="0" algn="l">
              <a:lnSpc>
                <a:spcPct val="100000"/>
              </a:lnSpc>
              <a:spcBef>
                <a:spcPts val="0"/>
              </a:spcBef>
              <a:spcAft>
                <a:spcPts val="0"/>
              </a:spcAft>
              <a:buSzPts val="1100"/>
              <a:buNone/>
            </a:pPr>
            <a:br>
              <a:rPr lang="en-GB"/>
            </a:br>
            <a:r>
              <a:rPr lang="en-GB"/>
              <a:t>Significance &amp; Research Value: Why is it interesting and important?</a:t>
            </a:r>
            <a:endParaRPr/>
          </a:p>
          <a:p>
            <a:pPr indent="0" lvl="0" marL="0" rtl="0" algn="l">
              <a:lnSpc>
                <a:spcPct val="100000"/>
              </a:lnSpc>
              <a:spcBef>
                <a:spcPts val="0"/>
              </a:spcBef>
              <a:spcAft>
                <a:spcPts val="0"/>
              </a:spcAft>
              <a:buSzPts val="1100"/>
              <a:buNone/>
            </a:pPr>
            <a:r>
              <a:rPr lang="en-GB"/>
              <a:t>1. What could we benefit from your research findings if your project succeeds?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2. What scientific outcome can you offer to the community?</a:t>
            </a:r>
            <a:endParaRPr/>
          </a:p>
          <a:p>
            <a:pPr indent="0" lvl="0" marL="0" rtl="0" algn="l">
              <a:lnSpc>
                <a:spcPct val="100000"/>
              </a:lnSpc>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92add6909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892add6909_2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Technical Challenges</a:t>
            </a:r>
            <a:br>
              <a:rPr lang="en-GB"/>
            </a:br>
            <a:r>
              <a:rPr lang="en-GB"/>
              <a:t>1. Why is it hard? (E.g., why do naive approaches fail?)</a:t>
            </a:r>
            <a:endParaRPr/>
          </a:p>
          <a:p>
            <a:pPr indent="0" lvl="0" marL="0" rtl="0" algn="l">
              <a:lnSpc>
                <a:spcPct val="100000"/>
              </a:lnSpc>
              <a:spcBef>
                <a:spcPts val="0"/>
              </a:spcBef>
              <a:spcAft>
                <a:spcPts val="0"/>
              </a:spcAft>
              <a:buSzPts val="1100"/>
              <a:buNone/>
            </a:pPr>
            <a:r>
              <a:rPr lang="en-GB"/>
              <a:t>&lt;Xi Hong&gt; </a:t>
            </a:r>
            <a:r>
              <a:rPr lang="en-GB">
                <a:solidFill>
                  <a:schemeClr val="dk1"/>
                </a:solidFill>
              </a:rPr>
              <a:t>Current RAG architectures (e.g., LightRAG Guo et al. (2024) and GraphRAG Edge et al. (2024a)), originally designed to leverage LLMs’ sophisticated capabilities, </a:t>
            </a:r>
            <a:r>
              <a:rPr b="1" lang="en-GB">
                <a:solidFill>
                  <a:schemeClr val="dk1"/>
                </a:solidFill>
              </a:rPr>
              <a:t>fail to accommodate the inherent constraints of SLMs</a:t>
            </a:r>
            <a:r>
              <a:rPr lang="en-GB">
                <a:solidFill>
                  <a:schemeClr val="dk1"/>
                </a:solidFill>
              </a:rPr>
              <a:t> across multiple critical functions: sophisticated query interpretation, multi-step reasoning, semantic matching between queries and documents, and nuanced information synthesis.</a:t>
            </a:r>
            <a:endParaRPr/>
          </a:p>
          <a:p>
            <a:pPr indent="0" lvl="0" marL="0" rtl="0" algn="l">
              <a:lnSpc>
                <a:spcPct val="100000"/>
              </a:lnSpc>
              <a:spcBef>
                <a:spcPts val="0"/>
              </a:spcBef>
              <a:spcAft>
                <a:spcPts val="0"/>
              </a:spcAft>
              <a:buSzPts val="1100"/>
              <a:buNone/>
            </a:pPr>
            <a:r>
              <a:rPr lang="en-GB"/>
              <a:t>&lt;Devesh&gt; Traditional RAG systems fail because they lose global context and inter-chunk relationships, making it hard to retrieve coherent, connected knowledge efficiently.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br>
              <a:rPr lang="en-GB"/>
            </a:br>
            <a:r>
              <a:rPr lang="en-GB"/>
              <a:t>2. Why hasn't it been solved before? Or, what's wrong with previous proposed solutions?</a:t>
            </a:r>
            <a:br>
              <a:rPr lang="en-GB"/>
            </a:br>
            <a:endParaRPr/>
          </a:p>
          <a:p>
            <a:pPr indent="-298450" lvl="0" marL="457200" rtl="0" algn="l">
              <a:lnSpc>
                <a:spcPct val="100000"/>
              </a:lnSpc>
              <a:spcBef>
                <a:spcPts val="0"/>
              </a:spcBef>
              <a:spcAft>
                <a:spcPts val="0"/>
              </a:spcAft>
              <a:buSzPts val="1100"/>
              <a:buChar char="-"/>
            </a:pPr>
            <a:r>
              <a:rPr lang="en-GB"/>
              <a:t>This field is quite new and people were earlier researching on RAG application specifically for LLMs, this architecture is novel for SLMs and Tiny LMs.</a:t>
            </a:r>
            <a:endParaRPr/>
          </a:p>
          <a:p>
            <a:pPr indent="0" lvl="0" marL="0" rtl="0" algn="l">
              <a:lnSpc>
                <a:spcPct val="100000"/>
              </a:lnSpc>
              <a:spcBef>
                <a:spcPts val="0"/>
              </a:spcBef>
              <a:spcAft>
                <a:spcPts val="0"/>
              </a:spcAft>
              <a:buNone/>
            </a:pPr>
            <a:br>
              <a:rPr lang="en-GB"/>
            </a:br>
            <a:r>
              <a:rPr lang="en-GB"/>
              <a:t>3. It’d be good to use a concrete failure example from previous solutions to show the challenges. It’d be great to try an LLM API to see if state-of-the-art production LLMs work or not.</a:t>
            </a:r>
            <a:endParaRPr/>
          </a:p>
          <a:p>
            <a:pPr indent="-298450" lvl="0" marL="457200" rtl="0" algn="l">
              <a:lnSpc>
                <a:spcPct val="100000"/>
              </a:lnSpc>
              <a:spcBef>
                <a:spcPts val="0"/>
              </a:spcBef>
              <a:spcAft>
                <a:spcPts val="0"/>
              </a:spcAft>
              <a:buSzPts val="1100"/>
              <a:buChar char="-"/>
            </a:pPr>
            <a:r>
              <a:rPr lang="en-GB"/>
              <a:t>Question: </a:t>
            </a:r>
            <a:r>
              <a:rPr lang="en-GB"/>
              <a:t>How does the rise of electric vehicles influence urban air quality and public transportation infrastructure?” </a:t>
            </a:r>
            <a:endParaRPr/>
          </a:p>
          <a:p>
            <a:pPr indent="-298450" lvl="0" marL="457200" rtl="0" algn="l">
              <a:lnSpc>
                <a:spcPct val="100000"/>
              </a:lnSpc>
              <a:spcBef>
                <a:spcPts val="0"/>
              </a:spcBef>
              <a:spcAft>
                <a:spcPts val="0"/>
              </a:spcAft>
              <a:buSzPts val="1100"/>
              <a:buChar char="-"/>
            </a:pPr>
            <a:r>
              <a:rPr lang="en-GB"/>
              <a:t>Answer: Electric vehicles produce no tailpipe emissions, which can reduce air pollution in cities. Urban air quality is affected by factors like traffic and industrial emissions. Public transportation systems face challenges such as congestion and funding. Some cities are promoting electric buses to reduce pollution.</a:t>
            </a:r>
            <a:endParaRPr/>
          </a:p>
          <a:p>
            <a:pPr indent="-298450" lvl="0" marL="457200" rtl="0" algn="l">
              <a:lnSpc>
                <a:spcPct val="100000"/>
              </a:lnSpc>
              <a:spcBef>
                <a:spcPts val="0"/>
              </a:spcBef>
              <a:spcAft>
                <a:spcPts val="0"/>
              </a:spcAft>
              <a:buSzPts val="1100"/>
              <a:buChar char="-"/>
            </a:pPr>
            <a:r>
              <a:rPr lang="en-GB"/>
              <a:t>Explanation: Existing RAG methods might retrieve separate documents on electric vehicles, air pollution, and public transportation challenges but struggle to synthesize this information into a cohesive response. They may fail to explain how the adoption of electric vehicles can improve air quality, which in turn could affect public transportation planning. As a result, the user may receive a fragmented answer that does not adequately capture the complex inter-dependencies among these topics.</a:t>
            </a:r>
            <a:endParaRPr/>
          </a:p>
          <a:p>
            <a:pPr indent="0" lvl="0" marL="0" rtl="0" algn="l">
              <a:lnSpc>
                <a:spcPct val="100000"/>
              </a:lnSpc>
              <a:spcBef>
                <a:spcPts val="0"/>
              </a:spcBef>
              <a:spcAft>
                <a:spcPts val="0"/>
              </a:spcAft>
              <a:buNone/>
            </a:pPr>
            <a:br>
              <a:rPr lang="en-GB"/>
            </a:br>
            <a:r>
              <a:rPr lang="en-GB"/>
              <a:t>Proposed Methods or Explorations</a:t>
            </a:r>
            <a:br>
              <a:rPr lang="en-GB"/>
            </a:br>
            <a:r>
              <a:rPr lang="en-GB"/>
              <a:t>1. What are the key components of my approach and results? If your method is a new algorithm, write a simple pseudocode or a workflow to illustrate the algorithm. If your method is a new model component, clarify the key modules. Try to be more specific and thoughtful if possible.</a:t>
            </a:r>
            <a:endParaRPr/>
          </a:p>
          <a:p>
            <a:pPr indent="0" lvl="0" marL="0" rtl="0" algn="l">
              <a:lnSpc>
                <a:spcPct val="100000"/>
              </a:lnSpc>
              <a:spcBef>
                <a:spcPts val="0"/>
              </a:spcBef>
              <a:spcAft>
                <a:spcPts val="0"/>
              </a:spcAft>
              <a:buNone/>
            </a:pPr>
            <a:r>
              <a:t/>
            </a:r>
            <a:endParaRPr/>
          </a:p>
          <a:p>
            <a:pPr indent="-298450" lvl="0" marL="457200" rtl="0" algn="l">
              <a:lnSpc>
                <a:spcPct val="100000"/>
              </a:lnSpc>
              <a:spcBef>
                <a:spcPts val="0"/>
              </a:spcBef>
              <a:spcAft>
                <a:spcPts val="0"/>
              </a:spcAft>
              <a:buSzPts val="1100"/>
              <a:buChar char="-"/>
            </a:pPr>
            <a:r>
              <a:rPr lang="en-GB"/>
              <a:t>&lt;Review and discuss monday- 2-3 components&gt;</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SzPts val="1100"/>
              <a:buNone/>
            </a:pPr>
            <a:r>
              <a:rPr lang="en-GB"/>
              <a:t>2. Novelty: What are the key differences between your proposed methods and existing solution? Why is your method conceptually a better design? </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GB"/>
              <a:t>&lt;Reasonings after discussion&gt;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92add6909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892add6909_2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Datasets and Evaluation Metrics</a:t>
            </a:r>
            <a:br>
              <a:rPr lang="en-GB"/>
            </a:br>
            <a:r>
              <a:rPr lang="en-GB"/>
              <a:t>- What are the datasets used for training, validation, and testing? Give the data statistics. Add a citation to existing datasets used in this project.</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GB"/>
              <a:t>Data analysis of LIhua world- get stats, validation (~600 examples)</a:t>
            </a:r>
            <a:endParaRPr/>
          </a:p>
          <a:p>
            <a:pPr indent="0" lvl="0" marL="457200" rtl="0" algn="l">
              <a:lnSpc>
                <a:spcPct val="100000"/>
              </a:lnSpc>
              <a:spcBef>
                <a:spcPts val="0"/>
              </a:spcBef>
              <a:spcAft>
                <a:spcPts val="0"/>
              </a:spcAft>
              <a:buNone/>
            </a:pPr>
            <a:r>
              <a:t/>
            </a:r>
            <a:endParaRPr/>
          </a:p>
          <a:p>
            <a:pPr indent="0" lvl="0" marL="0" rtl="0" algn="l">
              <a:lnSpc>
                <a:spcPct val="100000"/>
              </a:lnSpc>
              <a:spcBef>
                <a:spcPts val="0"/>
              </a:spcBef>
              <a:spcAft>
                <a:spcPts val="0"/>
              </a:spcAft>
              <a:buSzPts val="1100"/>
              <a:buNone/>
            </a:pPr>
            <a:r>
              <a:rPr lang="en-GB"/>
              <a:t>- How do you quantify the success of the model outputs? Add a citation if you reuse a metric in some papers.</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GB"/>
              <a:t>Accuracy and error rate definitions</a:t>
            </a:r>
            <a:endParaRPr/>
          </a:p>
          <a:p>
            <a:pPr indent="-298450" lvl="0" marL="457200" rtl="0" algn="l">
              <a:lnSpc>
                <a:spcPct val="100000"/>
              </a:lnSpc>
              <a:spcBef>
                <a:spcPts val="0"/>
              </a:spcBef>
              <a:spcAft>
                <a:spcPts val="0"/>
              </a:spcAft>
              <a:buSzPts val="1100"/>
              <a:buChar char="-"/>
            </a:pPr>
            <a:r>
              <a:rPr lang="en-GB"/>
              <a:t>Latency (tokens generated per second)- TinyLM will have better latency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Baseline Methods</a:t>
            </a:r>
            <a:endParaRPr/>
          </a:p>
          <a:p>
            <a:pPr indent="0" lvl="0" marL="0" rtl="0" algn="l">
              <a:lnSpc>
                <a:spcPct val="100000"/>
              </a:lnSpc>
              <a:spcBef>
                <a:spcPts val="0"/>
              </a:spcBef>
              <a:spcAft>
                <a:spcPts val="0"/>
              </a:spcAft>
              <a:buSzPts val="1100"/>
              <a:buNone/>
            </a:pPr>
            <a:r>
              <a:rPr lang="en-GB"/>
              <a:t>- Add only the most related baseline methods for experimental comparison. Add a brief description of each method per bullet point. The description should highlight the distinction of the method and your proposed idea.</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GB"/>
              <a:t>Naive, Graph, Light, Mini RAG systems</a:t>
            </a:r>
            <a:endParaRPr/>
          </a:p>
          <a:p>
            <a:pPr indent="-298450" lvl="0" marL="457200" rtl="0" algn="l">
              <a:spcBef>
                <a:spcPts val="0"/>
              </a:spcBef>
              <a:spcAft>
                <a:spcPts val="0"/>
              </a:spcAft>
              <a:buSzPts val="1100"/>
              <a:buChar char="-"/>
            </a:pPr>
            <a:r>
              <a:rPr lang="en-GB">
                <a:solidFill>
                  <a:schemeClr val="dk1"/>
                </a:solidFill>
              </a:rPr>
              <a:t>highlight the distinction of our proposed components.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Computing Estimation</a:t>
            </a:r>
            <a:endParaRPr/>
          </a:p>
          <a:p>
            <a:pPr indent="0" lvl="0" marL="0" rtl="0" algn="l">
              <a:lnSpc>
                <a:spcPct val="100000"/>
              </a:lnSpc>
              <a:spcBef>
                <a:spcPts val="0"/>
              </a:spcBef>
              <a:spcAft>
                <a:spcPts val="0"/>
              </a:spcAft>
              <a:buSzPts val="1100"/>
              <a:buNone/>
            </a:pPr>
            <a:r>
              <a:rPr lang="en-GB"/>
              <a:t>- What are the GPUs required (e.g., quantity, GPU RAMs)?</a:t>
            </a:r>
            <a:endParaRPr/>
          </a:p>
          <a:p>
            <a:pPr indent="0" lvl="0" marL="0" rtl="0" algn="l">
              <a:lnSpc>
                <a:spcPct val="100000"/>
              </a:lnSpc>
              <a:spcBef>
                <a:spcPts val="0"/>
              </a:spcBef>
              <a:spcAft>
                <a:spcPts val="0"/>
              </a:spcAft>
              <a:buSzPts val="1100"/>
              <a:buNone/>
            </a:pPr>
            <a:r>
              <a:rPr lang="en-GB"/>
              <a:t>	- 1 A100 GPU- VRAM: 32GB</a:t>
            </a:r>
            <a:endParaRPr/>
          </a:p>
          <a:p>
            <a:pPr indent="0" lvl="0" marL="0" rtl="0" algn="l">
              <a:lnSpc>
                <a:spcPct val="100000"/>
              </a:lnSpc>
              <a:spcBef>
                <a:spcPts val="0"/>
              </a:spcBef>
              <a:spcAft>
                <a:spcPts val="0"/>
              </a:spcAft>
              <a:buSzPts val="1100"/>
              <a:buNone/>
            </a:pPr>
            <a:br>
              <a:rPr lang="en-GB"/>
            </a:br>
            <a:r>
              <a:rPr lang="en-GB"/>
              <a:t>- Estimate how long it will take to run one experiment. For example, training a 3B model for 10 epochs takes ~5hrs. Add a reference of how you derive this estimation (e.g., either you have run one experiment yourself or get the estimation from an existing paper).</a:t>
            </a:r>
            <a:endParaRPr/>
          </a:p>
          <a:p>
            <a:pPr indent="0" lvl="0" marL="0" rtl="0" algn="l">
              <a:lnSpc>
                <a:spcPct val="100000"/>
              </a:lnSpc>
              <a:spcBef>
                <a:spcPts val="0"/>
              </a:spcBef>
              <a:spcAft>
                <a:spcPts val="0"/>
              </a:spcAft>
              <a:buSzPts val="1100"/>
              <a:buNone/>
            </a:pPr>
            <a:r>
              <a:rPr lang="en-GB"/>
              <a:t>- Quarter dataset of LiHua: </a:t>
            </a:r>
            <a:endParaRPr/>
          </a:p>
          <a:p>
            <a:pPr indent="457200" lvl="0" marL="0" rtl="0" algn="l">
              <a:lnSpc>
                <a:spcPct val="100000"/>
              </a:lnSpc>
              <a:spcBef>
                <a:spcPts val="0"/>
              </a:spcBef>
              <a:spcAft>
                <a:spcPts val="0"/>
              </a:spcAft>
              <a:buSzPts val="1100"/>
              <a:buNone/>
            </a:pPr>
            <a:r>
              <a:rPr lang="en-GB"/>
              <a:t>Indexing time using gpt 4o mini api: ~5hrs (105 txt files, 14 weeks data) and </a:t>
            </a:r>
            <a:endParaRPr/>
          </a:p>
          <a:p>
            <a:pPr indent="457200" lvl="0" marL="0" rtl="0" algn="l">
              <a:lnSpc>
                <a:spcPct val="100000"/>
              </a:lnSpc>
              <a:spcBef>
                <a:spcPts val="0"/>
              </a:spcBef>
              <a:spcAft>
                <a:spcPts val="0"/>
              </a:spcAft>
              <a:buSzPts val="1100"/>
              <a:buNone/>
            </a:pPr>
            <a:r>
              <a:rPr lang="en-GB"/>
              <a:t>Inferencing time: ~5 hrs (90% time for graph querying on CPU) on 150 examples - A100 GPU- Qwen/Qwen2.5-3B-Instruct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Model Checkpoints and Codebase</a:t>
            </a:r>
            <a:endParaRPr/>
          </a:p>
          <a:p>
            <a:pPr indent="0" lvl="0" marL="0" rtl="0" algn="l">
              <a:lnSpc>
                <a:spcPct val="100000"/>
              </a:lnSpc>
              <a:spcBef>
                <a:spcPts val="0"/>
              </a:spcBef>
              <a:spcAft>
                <a:spcPts val="0"/>
              </a:spcAft>
              <a:buSzPts val="1100"/>
              <a:buNone/>
            </a:pPr>
            <a:r>
              <a:rPr lang="en-GB"/>
              <a:t>- What model checkpoints are you going to used? (e.g., LLaMA-3.3 3B)</a:t>
            </a:r>
            <a:endParaRPr/>
          </a:p>
          <a:p>
            <a:pPr indent="0" lvl="0" marL="0" rtl="0" algn="l">
              <a:lnSpc>
                <a:spcPct val="100000"/>
              </a:lnSpc>
              <a:spcBef>
                <a:spcPts val="0"/>
              </a:spcBef>
              <a:spcAft>
                <a:spcPts val="0"/>
              </a:spcAft>
              <a:buSzPts val="1100"/>
              <a:buNone/>
            </a:pPr>
            <a:r>
              <a:rPr lang="en-GB"/>
              <a:t> - SLM: </a:t>
            </a:r>
            <a:r>
              <a:rPr lang="en-GB">
                <a:solidFill>
                  <a:schemeClr val="dk1"/>
                </a:solidFill>
              </a:rPr>
              <a:t>Qwen/Qwen2.5-3B-Instruct,  LLaMA-3.3 3B, microsoft/Phi-3.5-mini-instruct</a:t>
            </a:r>
            <a:endParaRPr>
              <a:solidFill>
                <a:schemeClr val="dk1"/>
              </a:solidFill>
            </a:endParaRPr>
          </a:p>
          <a:p>
            <a:pPr indent="0" lvl="0" marL="0" rtl="0" algn="l">
              <a:lnSpc>
                <a:spcPct val="100000"/>
              </a:lnSpc>
              <a:spcBef>
                <a:spcPts val="0"/>
              </a:spcBef>
              <a:spcAft>
                <a:spcPts val="0"/>
              </a:spcAft>
              <a:buSzPts val="1100"/>
              <a:buNone/>
            </a:pPr>
            <a:r>
              <a:rPr lang="en-GB">
                <a:solidFill>
                  <a:schemeClr val="dk1"/>
                </a:solidFill>
              </a:rPr>
              <a:t>- TinyLM: Qwen/Qwen2.5-0.5B-Instruct,  tencent/Hunyuan-0.5B-Instruct</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GB"/>
              <a:t>- Provide any Github codebases that you may reused for training/prompting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u="sng">
                <a:solidFill>
                  <a:schemeClr val="hlink"/>
                </a:solidFill>
                <a:hlinkClick r:id="rId2"/>
              </a:rPr>
              <a:t>https://github.com/HKUDS/MiniRAG</a:t>
            </a:r>
            <a:endParaRPr/>
          </a:p>
          <a:p>
            <a:pPr indent="0" lvl="0" marL="0" rtl="0" algn="l">
              <a:lnSpc>
                <a:spcPct val="100000"/>
              </a:lnSpc>
              <a:spcBef>
                <a:spcPts val="0"/>
              </a:spcBef>
              <a:spcAft>
                <a:spcPts val="0"/>
              </a:spcAft>
              <a:buSzPts val="1100"/>
              <a:buNone/>
            </a:pPr>
            <a:r>
              <a:rPr lang="en-GB" u="sng">
                <a:solidFill>
                  <a:schemeClr val="hlink"/>
                </a:solidFill>
                <a:hlinkClick r:id="rId3"/>
              </a:rPr>
              <a:t>https://github.com/HKUDS/LightRAG</a:t>
            </a:r>
            <a:r>
              <a:rPr lang="en-GB"/>
              <a: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sp>
        <p:nvSpPr>
          <p:cNvPr id="55" name="Google Shape;55;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6" name="Google Shape;5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8" name="Shape 58"/>
        <p:cNvGrpSpPr/>
        <p:nvPr/>
      </p:nvGrpSpPr>
      <p:grpSpPr>
        <a:xfrm>
          <a:off x="0" y="0"/>
          <a:ext cx="0" cy="0"/>
          <a:chOff x="0" y="0"/>
          <a:chExt cx="0" cy="0"/>
        </a:xfrm>
      </p:grpSpPr>
      <p:sp>
        <p:nvSpPr>
          <p:cNvPr id="59" name="Google Shape;59;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0" name="Google Shape;60;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title"/>
          </p:nvPr>
        </p:nvSpPr>
        <p:spPr>
          <a:xfrm>
            <a:off x="311700" y="445025"/>
            <a:ext cx="8520600" cy="740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SlimRAG: Better RAG for Small Language Models</a:t>
            </a:r>
            <a:endParaRPr/>
          </a:p>
          <a:p>
            <a:pPr indent="457200" lvl="0" marL="0" rtl="0" algn="l">
              <a:spcBef>
                <a:spcPts val="0"/>
              </a:spcBef>
              <a:spcAft>
                <a:spcPts val="0"/>
              </a:spcAft>
              <a:buClr>
                <a:schemeClr val="dk1"/>
              </a:buClr>
              <a:buSzPct val="66666"/>
              <a:buFont typeface="Arial"/>
              <a:buNone/>
            </a:pPr>
            <a:r>
              <a:rPr lang="en-GB" sz="1650"/>
              <a:t>Group 12: Akshat Singhal, Devesh Maheshwari, Xi Hong, Chenchen Wang</a:t>
            </a:r>
            <a:endParaRPr/>
          </a:p>
        </p:txBody>
      </p:sp>
      <p:sp>
        <p:nvSpPr>
          <p:cNvPr id="100" name="Google Shape;100;p25"/>
          <p:cNvSpPr txBox="1"/>
          <p:nvPr>
            <p:ph idx="1" type="body"/>
          </p:nvPr>
        </p:nvSpPr>
        <p:spPr>
          <a:xfrm>
            <a:off x="311700" y="1185825"/>
            <a:ext cx="8520600" cy="3383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b="1" lang="en-GB" u="sng">
                <a:solidFill>
                  <a:schemeClr val="dk1"/>
                </a:solidFill>
              </a:rPr>
              <a:t>Problem Description</a:t>
            </a:r>
            <a:r>
              <a:rPr lang="en-GB">
                <a:solidFill>
                  <a:schemeClr val="dk1"/>
                </a:solidFill>
              </a:rPr>
              <a:t> </a:t>
            </a:r>
            <a:endParaRPr b="1" i="1">
              <a:solidFill>
                <a:srgbClr val="FF0000"/>
              </a:solidFill>
            </a:endParaRPr>
          </a:p>
          <a:p>
            <a:pPr indent="-311150" lvl="0" marL="457200" rtl="0" algn="l">
              <a:lnSpc>
                <a:spcPct val="100000"/>
              </a:lnSpc>
              <a:spcBef>
                <a:spcPts val="0"/>
              </a:spcBef>
              <a:spcAft>
                <a:spcPts val="0"/>
              </a:spcAft>
              <a:buClr>
                <a:schemeClr val="dk1"/>
              </a:buClr>
              <a:buSzPts val="1300"/>
              <a:buChar char="●"/>
            </a:pPr>
            <a:r>
              <a:rPr lang="en-GB" sz="1300">
                <a:solidFill>
                  <a:schemeClr val="dk1"/>
                </a:solidFill>
              </a:rPr>
              <a:t>Despite extensive progress in RAG, it's still underperforming on SLMs, demanding new efficient design.</a:t>
            </a:r>
            <a:endParaRPr sz="1300">
              <a:solidFill>
                <a:schemeClr val="dk1"/>
              </a:solidFill>
            </a:endParaRPr>
          </a:p>
          <a:p>
            <a:pPr indent="-311150" lvl="0" marL="457200" rtl="0" algn="l">
              <a:lnSpc>
                <a:spcPct val="100000"/>
              </a:lnSpc>
              <a:spcBef>
                <a:spcPts val="0"/>
              </a:spcBef>
              <a:spcAft>
                <a:spcPts val="0"/>
              </a:spcAft>
              <a:buClr>
                <a:schemeClr val="dk1"/>
              </a:buClr>
              <a:buSzPts val="1300"/>
              <a:buChar char="●"/>
            </a:pPr>
            <a:r>
              <a:rPr lang="en-GB" sz="1300">
                <a:solidFill>
                  <a:schemeClr val="dk1"/>
                </a:solidFill>
              </a:rPr>
              <a:t>Input: </a:t>
            </a:r>
            <a:r>
              <a:rPr lang="en-GB" sz="1300">
                <a:solidFill>
                  <a:schemeClr val="dk1"/>
                </a:solidFill>
              </a:rPr>
              <a:t>Documents (Training phase/Indexing into Database) and Question(s) (Inferencing)</a:t>
            </a:r>
            <a:endParaRPr sz="1300">
              <a:solidFill>
                <a:schemeClr val="dk1"/>
              </a:solidFill>
            </a:endParaRPr>
          </a:p>
          <a:p>
            <a:pPr indent="-311150" lvl="0" marL="457200" rtl="0" algn="l">
              <a:lnSpc>
                <a:spcPct val="100000"/>
              </a:lnSpc>
              <a:spcBef>
                <a:spcPts val="0"/>
              </a:spcBef>
              <a:spcAft>
                <a:spcPts val="0"/>
              </a:spcAft>
              <a:buClr>
                <a:schemeClr val="dk1"/>
              </a:buClr>
              <a:buSzPts val="1300"/>
              <a:buChar char="●"/>
            </a:pPr>
            <a:r>
              <a:rPr lang="en-GB" sz="1300">
                <a:solidFill>
                  <a:schemeClr val="dk1"/>
                </a:solidFill>
              </a:rPr>
              <a:t>Output: Response text generated by SLM (small language model)</a:t>
            </a:r>
            <a:endParaRPr sz="1300">
              <a:solidFill>
                <a:schemeClr val="dk1"/>
              </a:solidFill>
            </a:endParaRPr>
          </a:p>
          <a:p>
            <a:pPr indent="-311150" lvl="0" marL="457200" rtl="0" algn="l">
              <a:lnSpc>
                <a:spcPct val="100000"/>
              </a:lnSpc>
              <a:spcBef>
                <a:spcPts val="0"/>
              </a:spcBef>
              <a:spcAft>
                <a:spcPts val="0"/>
              </a:spcAft>
              <a:buClr>
                <a:schemeClr val="dk1"/>
              </a:buClr>
              <a:buSzPts val="1300"/>
              <a:buChar char="●"/>
            </a:pPr>
            <a:r>
              <a:rPr lang="en-GB" sz="1300">
                <a:solidFill>
                  <a:schemeClr val="dk1"/>
                </a:solidFill>
              </a:rPr>
              <a:t>Objective: I</a:t>
            </a:r>
            <a:r>
              <a:rPr lang="en-GB" sz="1300">
                <a:solidFill>
                  <a:schemeClr val="dk1"/>
                </a:solidFill>
              </a:rPr>
              <a:t>mprove Retrieval augmented Generation specifically in resource constraint settings.</a:t>
            </a:r>
            <a:endParaRPr sz="1300">
              <a:solidFill>
                <a:schemeClr val="dk1"/>
              </a:solidFill>
            </a:endParaRPr>
          </a:p>
          <a:p>
            <a:pPr indent="0" lvl="0" marL="457200" rtl="0" algn="l">
              <a:lnSpc>
                <a:spcPct val="100000"/>
              </a:lnSpc>
              <a:spcBef>
                <a:spcPts val="0"/>
              </a:spcBef>
              <a:spcAft>
                <a:spcPts val="0"/>
              </a:spcAft>
              <a:buNone/>
            </a:pPr>
            <a:r>
              <a:t/>
            </a:r>
            <a:endParaRPr sz="1300">
              <a:solidFill>
                <a:schemeClr val="dk1"/>
              </a:solidFill>
            </a:endParaRPr>
          </a:p>
          <a:p>
            <a:pPr indent="0" lvl="0" marL="0" rtl="0" algn="l">
              <a:lnSpc>
                <a:spcPct val="100000"/>
              </a:lnSpc>
              <a:spcBef>
                <a:spcPts val="0"/>
              </a:spcBef>
              <a:spcAft>
                <a:spcPts val="0"/>
              </a:spcAft>
              <a:buNone/>
            </a:pPr>
            <a:r>
              <a:rPr b="1" lang="en-GB" sz="1300">
                <a:solidFill>
                  <a:schemeClr val="dk1"/>
                </a:solidFill>
              </a:rPr>
              <a:t>LiHua Dataset:</a:t>
            </a:r>
            <a:r>
              <a:rPr lang="en-GB" sz="1300">
                <a:solidFill>
                  <a:schemeClr val="dk1"/>
                </a:solidFill>
              </a:rPr>
              <a:t> D = {(qᵢ, R(qᵢ), rᵢ)}ᵢ₌₁ᴺ, where qᵢ is a user query, R(qᵢ) is the retrieved conversational context from 52 weeks of dialogues, and rᵢ is the target response for RAG evaluation.</a:t>
            </a:r>
            <a:endParaRPr sz="1300">
              <a:solidFill>
                <a:schemeClr val="dk1"/>
              </a:solidFill>
            </a:endParaRPr>
          </a:p>
          <a:p>
            <a:pPr indent="0" lvl="0" marL="0" rtl="0" algn="l">
              <a:lnSpc>
                <a:spcPct val="100000"/>
              </a:lnSpc>
              <a:spcBef>
                <a:spcPts val="1000"/>
              </a:spcBef>
              <a:spcAft>
                <a:spcPts val="0"/>
              </a:spcAft>
              <a:buSzPts val="1800"/>
              <a:buNone/>
            </a:pPr>
            <a:r>
              <a:rPr b="1" lang="en-GB" u="sng">
                <a:solidFill>
                  <a:schemeClr val="dk1"/>
                </a:solidFill>
              </a:rPr>
              <a:t>Significance &amp; Research Value</a:t>
            </a:r>
            <a:r>
              <a:rPr b="1" lang="en-GB">
                <a:solidFill>
                  <a:schemeClr val="dk1"/>
                </a:solidFill>
              </a:rPr>
              <a:t> </a:t>
            </a:r>
            <a:endParaRPr b="1" i="1">
              <a:solidFill>
                <a:srgbClr val="FF0000"/>
              </a:solidFill>
            </a:endParaRPr>
          </a:p>
          <a:p>
            <a:pPr indent="-311150" lvl="0" marL="457200" rtl="0" algn="l">
              <a:lnSpc>
                <a:spcPct val="100000"/>
              </a:lnSpc>
              <a:spcBef>
                <a:spcPts val="0"/>
              </a:spcBef>
              <a:spcAft>
                <a:spcPts val="0"/>
              </a:spcAft>
              <a:buClr>
                <a:schemeClr val="dk1"/>
              </a:buClr>
              <a:buSzPts val="1300"/>
              <a:buChar char="●"/>
            </a:pPr>
            <a:r>
              <a:rPr lang="en-GB" sz="1300">
                <a:solidFill>
                  <a:schemeClr val="dk1"/>
                </a:solidFill>
              </a:rPr>
              <a:t>Expands RAG usability to edge and resource-limited environments (e.g., mobile or edge-devices).</a:t>
            </a:r>
            <a:endParaRPr sz="1300">
              <a:solidFill>
                <a:schemeClr val="dk1"/>
              </a:solidFill>
            </a:endParaRPr>
          </a:p>
          <a:p>
            <a:pPr indent="-311150" lvl="0" marL="457200" rtl="0" algn="l">
              <a:lnSpc>
                <a:spcPct val="100000"/>
              </a:lnSpc>
              <a:spcBef>
                <a:spcPts val="0"/>
              </a:spcBef>
              <a:spcAft>
                <a:spcPts val="0"/>
              </a:spcAft>
              <a:buClr>
                <a:schemeClr val="dk1"/>
              </a:buClr>
              <a:buSzPts val="1300"/>
              <a:buChar char="●"/>
            </a:pPr>
            <a:r>
              <a:rPr lang="en-GB" sz="1300">
                <a:solidFill>
                  <a:schemeClr val="dk1"/>
                </a:solidFill>
              </a:rPr>
              <a:t>Provides empirical insights into adapting RAG architectures for SLMs through SlimRAG.</a:t>
            </a:r>
            <a:endParaRPr sz="1300">
              <a:solidFill>
                <a:schemeClr val="dk1"/>
              </a:solidFill>
            </a:endParaRPr>
          </a:p>
          <a:p>
            <a:pPr indent="-311150" lvl="0" marL="457200" rtl="0" algn="l">
              <a:lnSpc>
                <a:spcPct val="100000"/>
              </a:lnSpc>
              <a:spcBef>
                <a:spcPts val="0"/>
              </a:spcBef>
              <a:spcAft>
                <a:spcPts val="0"/>
              </a:spcAft>
              <a:buClr>
                <a:schemeClr val="dk1"/>
              </a:buClr>
              <a:buSzPts val="1300"/>
              <a:buChar char="●"/>
            </a:pPr>
            <a:r>
              <a:rPr lang="en-GB" sz="1300">
                <a:solidFill>
                  <a:schemeClr val="dk1"/>
                </a:solidFill>
              </a:rPr>
              <a:t>Offers a benchmark and design framework for future research on lightweight, graph-based RAG systems like MiniRAG and LightRAG.</a:t>
            </a:r>
            <a:endParaRPr sz="13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980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sz="2120"/>
              <a:t>Literature Survey &amp; Comparison with Proposed Method</a:t>
            </a:r>
            <a:endParaRPr sz="2120"/>
          </a:p>
        </p:txBody>
      </p:sp>
      <p:sp>
        <p:nvSpPr>
          <p:cNvPr id="106" name="Google Shape;106;p26"/>
          <p:cNvSpPr/>
          <p:nvPr/>
        </p:nvSpPr>
        <p:spPr>
          <a:xfrm>
            <a:off x="573350" y="1886525"/>
            <a:ext cx="8100900" cy="499500"/>
          </a:xfrm>
          <a:prstGeom prst="rect">
            <a:avLst/>
          </a:prstGeom>
          <a:solidFill>
            <a:schemeClr val="lt1"/>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26"/>
          <p:cNvSpPr txBox="1"/>
          <p:nvPr>
            <p:ph idx="1" type="body"/>
          </p:nvPr>
        </p:nvSpPr>
        <p:spPr>
          <a:xfrm>
            <a:off x="90625" y="594900"/>
            <a:ext cx="8741700" cy="45006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1800"/>
              <a:buNone/>
            </a:pPr>
            <a:r>
              <a:rPr b="1" lang="en-GB" sz="1600" u="sng">
                <a:solidFill>
                  <a:schemeClr val="dk1"/>
                </a:solidFill>
              </a:rPr>
              <a:t>Technical Challenges</a:t>
            </a:r>
            <a:br>
              <a:rPr b="1" lang="en-GB" sz="1600" u="sng">
                <a:solidFill>
                  <a:schemeClr val="dk1"/>
                </a:solidFill>
              </a:rPr>
            </a:br>
            <a:endParaRPr b="1" i="1" sz="1600">
              <a:solidFill>
                <a:srgbClr val="FF0000"/>
              </a:solidFill>
            </a:endParaRPr>
          </a:p>
          <a:p>
            <a:pPr indent="-304800" lvl="0" marL="457200" rtl="0" algn="l">
              <a:lnSpc>
                <a:spcPct val="100000"/>
              </a:lnSpc>
              <a:spcBef>
                <a:spcPts val="0"/>
              </a:spcBef>
              <a:spcAft>
                <a:spcPts val="0"/>
              </a:spcAft>
              <a:buClr>
                <a:schemeClr val="dk1"/>
              </a:buClr>
              <a:buSzPts val="1200"/>
              <a:buChar char="●"/>
            </a:pPr>
            <a:r>
              <a:rPr lang="en-GB" sz="1200">
                <a:solidFill>
                  <a:schemeClr val="dk1"/>
                </a:solidFill>
              </a:rPr>
              <a:t>Traditional RAG systems are primarily designed around LLMs, and they rely on their strong generative abilities.</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lang="en-GB" sz="1200">
                <a:solidFill>
                  <a:schemeClr val="dk1"/>
                </a:solidFill>
              </a:rPr>
              <a:t>These architectures fail to accommodate the inherent constraints of SLMs across complex query interpretation, multi-step reasoning, hindering effective context processing and factual consistency.</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b="1" lang="en-GB" sz="900">
                <a:solidFill>
                  <a:schemeClr val="dk1"/>
                </a:solidFill>
              </a:rPr>
              <a:t>Example: </a:t>
            </a:r>
            <a:br>
              <a:rPr b="1" lang="en-GB" sz="900">
                <a:solidFill>
                  <a:schemeClr val="dk1"/>
                </a:solidFill>
              </a:rPr>
            </a:br>
            <a:br>
              <a:rPr lang="en-GB" sz="900">
                <a:solidFill>
                  <a:schemeClr val="dk1"/>
                </a:solidFill>
              </a:rPr>
            </a:br>
            <a:r>
              <a:rPr b="1" lang="en-GB" sz="900">
                <a:solidFill>
                  <a:schemeClr val="dk1"/>
                </a:solidFill>
              </a:rPr>
              <a:t>Retrieved</a:t>
            </a:r>
            <a:r>
              <a:rPr lang="en-GB" sz="900">
                <a:solidFill>
                  <a:schemeClr val="dk1"/>
                </a:solidFill>
              </a:rPr>
              <a:t> </a:t>
            </a:r>
            <a:r>
              <a:rPr b="1" lang="en-GB" sz="900">
                <a:solidFill>
                  <a:schemeClr val="dk1"/>
                </a:solidFill>
              </a:rPr>
              <a:t>Context</a:t>
            </a:r>
            <a:r>
              <a:rPr lang="en-GB" sz="900">
                <a:solidFill>
                  <a:schemeClr val="dk1"/>
                </a:solidFill>
              </a:rPr>
              <a:t>: </a:t>
            </a:r>
            <a:r>
              <a:rPr i="1" lang="en-GB" sz="900">
                <a:solidFill>
                  <a:schemeClr val="dk1"/>
                </a:solidFill>
              </a:rPr>
              <a:t>LiHua:</a:t>
            </a:r>
            <a:r>
              <a:rPr lang="en-GB" sz="900">
                <a:solidFill>
                  <a:schemeClr val="dk1"/>
                </a:solidFill>
              </a:rPr>
              <a:t> Hey Adam! Just wanted to ask for the </a:t>
            </a:r>
            <a:r>
              <a:rPr i="1" lang="en-GB" sz="900">
                <a:solidFill>
                  <a:schemeClr val="dk1"/>
                </a:solidFill>
              </a:rPr>
              <a:t>Wi-Fi password</a:t>
            </a:r>
            <a:r>
              <a:rPr lang="en-GB" sz="900">
                <a:solidFill>
                  <a:schemeClr val="dk1"/>
                </a:solidFill>
              </a:rPr>
              <a:t>. Also, are there any </a:t>
            </a:r>
            <a:r>
              <a:rPr i="1" lang="en-GB" sz="900">
                <a:solidFill>
                  <a:schemeClr val="dk1"/>
                </a:solidFill>
              </a:rPr>
              <a:t>house rules</a:t>
            </a:r>
            <a:r>
              <a:rPr lang="en-GB" sz="900">
                <a:solidFill>
                  <a:schemeClr val="dk1"/>
                </a:solidFill>
              </a:rPr>
              <a:t> I should know about? </a:t>
            </a:r>
            <a:endParaRPr sz="900">
              <a:solidFill>
                <a:schemeClr val="dk1"/>
              </a:solidFill>
            </a:endParaRPr>
          </a:p>
          <a:p>
            <a:pPr indent="0" lvl="0" marL="914400" rtl="0" algn="l">
              <a:lnSpc>
                <a:spcPct val="100000"/>
              </a:lnSpc>
              <a:spcBef>
                <a:spcPts val="0"/>
              </a:spcBef>
              <a:spcAft>
                <a:spcPts val="0"/>
              </a:spcAft>
              <a:buNone/>
            </a:pPr>
            <a:r>
              <a:rPr lang="en-GB" sz="900">
                <a:solidFill>
                  <a:schemeClr val="dk1"/>
                </a:solidFill>
              </a:rPr>
              <a:t> 	    </a:t>
            </a:r>
            <a:r>
              <a:rPr i="1" lang="en-GB" sz="900">
                <a:solidFill>
                  <a:schemeClr val="dk1"/>
                </a:solidFill>
              </a:rPr>
              <a:t>Adam Smith</a:t>
            </a:r>
            <a:r>
              <a:rPr lang="en-GB" sz="900">
                <a:solidFill>
                  <a:schemeClr val="dk1"/>
                </a:solidFill>
              </a:rPr>
              <a:t>: Sure! The Wi-Fi password is "Family123". For house rules, please keep noise to a minimum during late hours and take good      </a:t>
            </a:r>
            <a:endParaRPr sz="900">
              <a:solidFill>
                <a:schemeClr val="dk1"/>
              </a:solidFill>
            </a:endParaRPr>
          </a:p>
          <a:p>
            <a:pPr indent="457200" lvl="0" marL="914400" rtl="0" algn="l">
              <a:lnSpc>
                <a:spcPct val="100000"/>
              </a:lnSpc>
              <a:spcBef>
                <a:spcPts val="0"/>
              </a:spcBef>
              <a:spcAft>
                <a:spcPts val="0"/>
              </a:spcAft>
              <a:buNone/>
            </a:pPr>
            <a:r>
              <a:rPr lang="en-GB" sz="900">
                <a:solidFill>
                  <a:schemeClr val="dk1"/>
                </a:solidFill>
              </a:rPr>
              <a:t>    care of the property.</a:t>
            </a:r>
            <a:endParaRPr sz="900">
              <a:solidFill>
                <a:schemeClr val="dk1"/>
              </a:solidFill>
            </a:endParaRPr>
          </a:p>
          <a:p>
            <a:pPr indent="0" lvl="0" marL="457200" rtl="0" algn="l">
              <a:lnSpc>
                <a:spcPct val="100000"/>
              </a:lnSpc>
              <a:spcBef>
                <a:spcPts val="0"/>
              </a:spcBef>
              <a:spcAft>
                <a:spcPts val="0"/>
              </a:spcAft>
              <a:buNone/>
            </a:pPr>
            <a:r>
              <a:rPr b="1" lang="en-GB" sz="900">
                <a:solidFill>
                  <a:schemeClr val="dk1"/>
                </a:solidFill>
              </a:rPr>
              <a:t>User Question:</a:t>
            </a:r>
            <a:r>
              <a:rPr lang="en-GB" sz="900">
                <a:solidFill>
                  <a:schemeClr val="dk1"/>
                </a:solidFill>
              </a:rPr>
              <a:t> What were the house rules discussed in above conversation?</a:t>
            </a:r>
            <a:br>
              <a:rPr lang="en-GB" sz="900">
                <a:solidFill>
                  <a:schemeClr val="dk1"/>
                </a:solidFill>
              </a:rPr>
            </a:br>
            <a:r>
              <a:rPr b="1" lang="en-GB" sz="900">
                <a:solidFill>
                  <a:schemeClr val="dk1"/>
                </a:solidFill>
              </a:rPr>
              <a:t>LLM response:</a:t>
            </a:r>
            <a:r>
              <a:rPr lang="en-GB" sz="900">
                <a:solidFill>
                  <a:schemeClr val="dk1"/>
                </a:solidFill>
              </a:rPr>
              <a:t> </a:t>
            </a:r>
            <a:r>
              <a:rPr lang="en-GB" sz="900">
                <a:solidFill>
                  <a:schemeClr val="dk1"/>
                </a:solidFill>
                <a:highlight>
                  <a:srgbClr val="D9EAD3"/>
                </a:highlight>
              </a:rPr>
              <a:t>The house rules discussed were: Keep noise to a minimum during late hours. Take good care of the property.</a:t>
            </a:r>
            <a:endParaRPr sz="900">
              <a:solidFill>
                <a:schemeClr val="dk1"/>
              </a:solidFill>
              <a:highlight>
                <a:srgbClr val="D9EAD3"/>
              </a:highlight>
            </a:endParaRPr>
          </a:p>
          <a:p>
            <a:pPr indent="0" lvl="0" marL="457200" rtl="0" algn="l">
              <a:lnSpc>
                <a:spcPct val="100000"/>
              </a:lnSpc>
              <a:spcBef>
                <a:spcPts val="0"/>
              </a:spcBef>
              <a:spcAft>
                <a:spcPts val="0"/>
              </a:spcAft>
              <a:buNone/>
            </a:pPr>
            <a:r>
              <a:rPr b="1" lang="en-GB" sz="900">
                <a:solidFill>
                  <a:schemeClr val="dk1"/>
                </a:solidFill>
              </a:rPr>
              <a:t>SLM response:</a:t>
            </a:r>
            <a:r>
              <a:rPr lang="en-GB" sz="900">
                <a:solidFill>
                  <a:schemeClr val="dk1"/>
                </a:solidFill>
              </a:rPr>
              <a:t> Based on the dialogue provided: </a:t>
            </a:r>
            <a:r>
              <a:rPr lang="en-GB" sz="900">
                <a:solidFill>
                  <a:schemeClr val="dk1"/>
                </a:solidFill>
                <a:highlight>
                  <a:srgbClr val="EA9999"/>
                </a:highlight>
              </a:rPr>
              <a:t>1. **Wi-Fi Password**: The Wi-Fi password was set as "Family123".</a:t>
            </a:r>
            <a:r>
              <a:rPr lang="en-GB" sz="900">
                <a:solidFill>
                  <a:schemeClr val="dk1"/>
                </a:solidFill>
                <a:highlight>
                  <a:srgbClr val="D9EAD3"/>
                </a:highlight>
              </a:rPr>
              <a:t>2. </a:t>
            </a:r>
            <a:r>
              <a:rPr lang="en-GB" sz="900">
                <a:solidFill>
                  <a:schemeClr val="dk1"/>
                </a:solidFill>
              </a:rPr>
              <a:t>*</a:t>
            </a:r>
            <a:r>
              <a:rPr lang="en-GB" sz="900">
                <a:solidFill>
                  <a:schemeClr val="dk1"/>
                </a:solidFill>
                <a:highlight>
                  <a:srgbClr val="D9EAD3"/>
                </a:highlight>
              </a:rPr>
              <a:t>*Noise Control**: The speaker advised that noise levels should be kept low at night during late hours.</a:t>
            </a:r>
            <a:endParaRPr sz="900">
              <a:solidFill>
                <a:schemeClr val="dk1"/>
              </a:solidFill>
              <a:highlight>
                <a:srgbClr val="D9EAD3"/>
              </a:highlight>
            </a:endParaRPr>
          </a:p>
          <a:p>
            <a:pPr indent="0" lvl="0" marL="0" rtl="0" algn="l">
              <a:lnSpc>
                <a:spcPct val="100000"/>
              </a:lnSpc>
              <a:spcBef>
                <a:spcPts val="1000"/>
              </a:spcBef>
              <a:spcAft>
                <a:spcPts val="0"/>
              </a:spcAft>
              <a:buSzPts val="1800"/>
              <a:buNone/>
            </a:pPr>
            <a:r>
              <a:rPr b="1" lang="en-GB" sz="1600" u="sng">
                <a:solidFill>
                  <a:schemeClr val="dk1"/>
                </a:solidFill>
              </a:rPr>
              <a:t>Proposed Methods or Explorations</a:t>
            </a:r>
            <a:endParaRPr b="1" i="1">
              <a:solidFill>
                <a:srgbClr val="FF0000"/>
              </a:solidFill>
            </a:endParaRPr>
          </a:p>
          <a:p>
            <a:pPr indent="0" lvl="0" marL="457200" rtl="0" algn="l">
              <a:lnSpc>
                <a:spcPct val="100000"/>
              </a:lnSpc>
              <a:spcBef>
                <a:spcPts val="0"/>
              </a:spcBef>
              <a:spcAft>
                <a:spcPts val="0"/>
              </a:spcAft>
              <a:buNone/>
            </a:pPr>
            <a:r>
              <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b="1" lang="en-GB" sz="1200">
                <a:solidFill>
                  <a:schemeClr val="dk1"/>
                </a:solidFill>
              </a:rPr>
              <a:t>Post retrieval stage:</a:t>
            </a:r>
            <a:r>
              <a:rPr lang="en-GB" sz="1200">
                <a:solidFill>
                  <a:schemeClr val="dk1"/>
                </a:solidFill>
              </a:rPr>
              <a:t> </a:t>
            </a:r>
            <a:endParaRPr sz="1200">
              <a:solidFill>
                <a:schemeClr val="dk1"/>
              </a:solidFill>
            </a:endParaRPr>
          </a:p>
          <a:p>
            <a:pPr indent="-304800" lvl="1" marL="914400" rtl="0" algn="l">
              <a:lnSpc>
                <a:spcPct val="100000"/>
              </a:lnSpc>
              <a:spcBef>
                <a:spcPts val="0"/>
              </a:spcBef>
              <a:spcAft>
                <a:spcPts val="0"/>
              </a:spcAft>
              <a:buClr>
                <a:schemeClr val="dk1"/>
              </a:buClr>
              <a:buSzPts val="1200"/>
              <a:buChar char="○"/>
            </a:pPr>
            <a:r>
              <a:rPr b="1" lang="en-GB" sz="1200">
                <a:solidFill>
                  <a:schemeClr val="dk1"/>
                </a:solidFill>
              </a:rPr>
              <a:t>Fine-tune Rerank module:</a:t>
            </a:r>
            <a:r>
              <a:rPr lang="en-GB" sz="1200">
                <a:solidFill>
                  <a:schemeClr val="dk1"/>
                </a:solidFill>
              </a:rPr>
              <a:t>  This module will rank and select the most relevant documents based on their semantic alignment with the query.</a:t>
            </a:r>
            <a:endParaRPr sz="1200">
              <a:solidFill>
                <a:schemeClr val="dk1"/>
              </a:solidFill>
            </a:endParaRPr>
          </a:p>
          <a:p>
            <a:pPr indent="-304800" lvl="1" marL="914400" rtl="0" algn="l">
              <a:lnSpc>
                <a:spcPct val="100000"/>
              </a:lnSpc>
              <a:spcBef>
                <a:spcPts val="0"/>
              </a:spcBef>
              <a:spcAft>
                <a:spcPts val="0"/>
              </a:spcAft>
              <a:buClr>
                <a:schemeClr val="dk1"/>
              </a:buClr>
              <a:buSzPts val="1200"/>
              <a:buChar char="○"/>
            </a:pPr>
            <a:r>
              <a:rPr b="1" lang="en-GB" sz="1200">
                <a:solidFill>
                  <a:schemeClr val="dk1"/>
                </a:solidFill>
              </a:rPr>
              <a:t>Context compression: </a:t>
            </a:r>
            <a:r>
              <a:rPr lang="en-GB" sz="1200">
                <a:solidFill>
                  <a:schemeClr val="dk1"/>
                </a:solidFill>
              </a:rPr>
              <a:t>This module will help condense and summarize the selected documents into concise representations, reducing redundancy and noise. </a:t>
            </a:r>
            <a:endParaRPr sz="1200">
              <a:solidFill>
                <a:schemeClr val="dk1"/>
              </a:solidFill>
            </a:endParaRPr>
          </a:p>
          <a:p>
            <a:pPr indent="0" lvl="0" marL="457200" marR="0" rtl="0" algn="l">
              <a:lnSpc>
                <a:spcPct val="100000"/>
              </a:lnSpc>
              <a:spcBef>
                <a:spcPts val="0"/>
              </a:spcBef>
              <a:spcAft>
                <a:spcPts val="0"/>
              </a:spcAft>
              <a:buNone/>
            </a:pPr>
            <a:r>
              <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b="1" lang="en-GB" sz="1200">
                <a:solidFill>
                  <a:schemeClr val="dk1"/>
                </a:solidFill>
              </a:rPr>
              <a:t>Iterative SLM as a judge pipeline:</a:t>
            </a:r>
            <a:r>
              <a:rPr lang="en-GB" sz="1200">
                <a:solidFill>
                  <a:schemeClr val="dk1"/>
                </a:solidFill>
              </a:rPr>
              <a:t> This pipeline will help evaluate the factual consistency and coherence of the generated response against the retrieved context, enabling lightweight self-verification. (Ex: GLIDER)</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lang="en-GB" sz="1100">
                <a:solidFill>
                  <a:schemeClr val="dk1"/>
                </a:solidFill>
              </a:rPr>
              <a:t>Above components </a:t>
            </a:r>
            <a:r>
              <a:rPr b="1" lang="en-GB" sz="1100">
                <a:solidFill>
                  <a:schemeClr val="dk1"/>
                </a:solidFill>
              </a:rPr>
              <a:t>optimize retrieval quality, reduce input noise, and enhance factual grounding</a:t>
            </a:r>
            <a:r>
              <a:rPr lang="en-GB" sz="1100">
                <a:solidFill>
                  <a:schemeClr val="dk1"/>
                </a:solidFill>
              </a:rPr>
              <a:t>, enabling our RAG architecture to overcome the challenges wrt  the constraints of SLMs.</a:t>
            </a:r>
            <a:endParaRPr sz="1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Experiment Designs and Feasibility Analysis</a:t>
            </a:r>
            <a:endParaRPr/>
          </a:p>
        </p:txBody>
      </p:sp>
      <p:sp>
        <p:nvSpPr>
          <p:cNvPr id="113" name="Google Shape;113;p27"/>
          <p:cNvSpPr txBox="1"/>
          <p:nvPr>
            <p:ph idx="1" type="body"/>
          </p:nvPr>
        </p:nvSpPr>
        <p:spPr>
          <a:xfrm>
            <a:off x="311700" y="1185825"/>
            <a:ext cx="8520600" cy="38985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SzPts val="1800"/>
              <a:buNone/>
            </a:pPr>
            <a:r>
              <a:rPr b="1" lang="en-GB" u="sng">
                <a:solidFill>
                  <a:schemeClr val="dk1"/>
                </a:solidFill>
              </a:rPr>
              <a:t>Datasets and Evaluation Metrics</a:t>
            </a:r>
            <a:endParaRPr b="1" i="1">
              <a:solidFill>
                <a:srgbClr val="FF0000"/>
              </a:solidFill>
            </a:endParaRPr>
          </a:p>
          <a:p>
            <a:pPr indent="-342900" lvl="0" marL="457200" rtl="0" algn="l">
              <a:lnSpc>
                <a:spcPct val="100000"/>
              </a:lnSpc>
              <a:spcBef>
                <a:spcPts val="0"/>
              </a:spcBef>
              <a:spcAft>
                <a:spcPts val="0"/>
              </a:spcAft>
              <a:buClr>
                <a:schemeClr val="dk1"/>
              </a:buClr>
              <a:buSzPts val="1800"/>
              <a:buChar char="●"/>
            </a:pPr>
            <a:r>
              <a:rPr lang="en-GB">
                <a:solidFill>
                  <a:schemeClr val="dk1"/>
                </a:solidFill>
              </a:rPr>
              <a:t>LiHua-World— one-year chat corpus from virtual user LiHua,</a:t>
            </a:r>
            <a:endParaRPr>
              <a:solidFill>
                <a:schemeClr val="dk1"/>
              </a:solidFill>
            </a:endParaRPr>
          </a:p>
          <a:p>
            <a:pPr indent="-317500" lvl="1" marL="914400" rtl="0" algn="l">
              <a:lnSpc>
                <a:spcPct val="100000"/>
              </a:lnSpc>
              <a:spcBef>
                <a:spcPts val="0"/>
              </a:spcBef>
              <a:spcAft>
                <a:spcPts val="0"/>
              </a:spcAft>
              <a:buClr>
                <a:schemeClr val="dk1"/>
              </a:buClr>
              <a:buSzPts val="1400"/>
              <a:buChar char="○"/>
            </a:pPr>
            <a:r>
              <a:rPr lang="en-GB">
                <a:solidFill>
                  <a:schemeClr val="dk1"/>
                </a:solidFill>
              </a:rPr>
              <a:t>Around 400 text data and 600 QA pairs</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lang="en-GB">
                <a:solidFill>
                  <a:schemeClr val="dk1"/>
                </a:solidFill>
              </a:rPr>
              <a:t>J</a:t>
            </a:r>
            <a:r>
              <a:rPr lang="en-GB">
                <a:solidFill>
                  <a:schemeClr val="dk1"/>
                </a:solidFill>
              </a:rPr>
              <a:t>udged by ChatGPT-4o with structured prompts.</a:t>
            </a:r>
            <a:endParaRPr>
              <a:solidFill>
                <a:schemeClr val="dk1"/>
              </a:solidFill>
            </a:endParaRPr>
          </a:p>
          <a:p>
            <a:pPr indent="0" lvl="0" marL="0" rtl="0" algn="l">
              <a:lnSpc>
                <a:spcPct val="100000"/>
              </a:lnSpc>
              <a:spcBef>
                <a:spcPts val="1000"/>
              </a:spcBef>
              <a:spcAft>
                <a:spcPts val="0"/>
              </a:spcAft>
              <a:buSzPts val="1800"/>
              <a:buNone/>
            </a:pPr>
            <a:r>
              <a:rPr b="1" lang="en-GB" u="sng">
                <a:solidFill>
                  <a:schemeClr val="dk1"/>
                </a:solidFill>
              </a:rPr>
              <a:t>Baseline Methods</a:t>
            </a:r>
            <a:endParaRPr b="1" i="1">
              <a:solidFill>
                <a:srgbClr val="FF0000"/>
              </a:solidFill>
            </a:endParaRPr>
          </a:p>
          <a:p>
            <a:pPr indent="-342900" lvl="0" marL="457200" rtl="0" algn="l">
              <a:lnSpc>
                <a:spcPct val="100000"/>
              </a:lnSpc>
              <a:spcBef>
                <a:spcPts val="0"/>
              </a:spcBef>
              <a:spcAft>
                <a:spcPts val="0"/>
              </a:spcAft>
              <a:buClr>
                <a:schemeClr val="dk1"/>
              </a:buClr>
              <a:buSzPts val="1800"/>
              <a:buChar char="●"/>
            </a:pPr>
            <a:r>
              <a:rPr lang="en-GB">
                <a:solidFill>
                  <a:schemeClr val="dk1"/>
                </a:solidFill>
              </a:rPr>
              <a:t>Mini RAG framework</a:t>
            </a:r>
            <a:endParaRPr>
              <a:solidFill>
                <a:schemeClr val="dk1"/>
              </a:solidFill>
            </a:endParaRPr>
          </a:p>
          <a:p>
            <a:pPr indent="-317500" lvl="1" marL="914400" rtl="0" algn="l">
              <a:lnSpc>
                <a:spcPct val="100000"/>
              </a:lnSpc>
              <a:spcBef>
                <a:spcPts val="0"/>
              </a:spcBef>
              <a:spcAft>
                <a:spcPts val="0"/>
              </a:spcAft>
              <a:buClr>
                <a:schemeClr val="dk1"/>
              </a:buClr>
              <a:buSzPts val="1400"/>
              <a:buChar char="○"/>
            </a:pPr>
            <a:r>
              <a:rPr lang="en-GB">
                <a:solidFill>
                  <a:schemeClr val="dk1"/>
                </a:solidFill>
              </a:rPr>
              <a:t>A lightweight Retrieval-Augmented Generation (RAG) framework designed for </a:t>
            </a:r>
            <a:r>
              <a:rPr b="1" lang="en-GB">
                <a:solidFill>
                  <a:schemeClr val="dk1"/>
                </a:solidFill>
              </a:rPr>
              <a:t>small language models (SLMs)</a:t>
            </a:r>
            <a:r>
              <a:rPr lang="en-GB">
                <a:solidFill>
                  <a:schemeClr val="dk1"/>
                </a:solidFill>
              </a:rPr>
              <a:t>.</a:t>
            </a:r>
            <a:endParaRPr>
              <a:solidFill>
                <a:schemeClr val="dk1"/>
              </a:solidFill>
            </a:endParaRPr>
          </a:p>
          <a:p>
            <a:pPr indent="-317500" lvl="1" marL="914400" rtl="0" algn="l">
              <a:lnSpc>
                <a:spcPct val="100000"/>
              </a:lnSpc>
              <a:spcBef>
                <a:spcPts val="0"/>
              </a:spcBef>
              <a:spcAft>
                <a:spcPts val="0"/>
              </a:spcAft>
              <a:buClr>
                <a:schemeClr val="dk1"/>
              </a:buClr>
              <a:buSzPts val="1400"/>
              <a:buChar char="○"/>
            </a:pPr>
            <a:r>
              <a:rPr lang="en-GB">
                <a:solidFill>
                  <a:schemeClr val="dk1"/>
                </a:solidFill>
              </a:rPr>
              <a:t>Semantic-Aware Heterogeneous Graph Indexing and Topology-Enhanced Retrieval</a:t>
            </a:r>
            <a:endParaRPr>
              <a:solidFill>
                <a:schemeClr val="dk1"/>
              </a:solidFill>
            </a:endParaRPr>
          </a:p>
          <a:p>
            <a:pPr indent="0" lvl="0" marL="0" rtl="0" algn="l">
              <a:lnSpc>
                <a:spcPct val="100000"/>
              </a:lnSpc>
              <a:spcBef>
                <a:spcPts val="1000"/>
              </a:spcBef>
              <a:spcAft>
                <a:spcPts val="0"/>
              </a:spcAft>
              <a:buSzPts val="1800"/>
              <a:buNone/>
            </a:pPr>
            <a:r>
              <a:rPr b="1" lang="en-GB" u="sng">
                <a:solidFill>
                  <a:schemeClr val="dk1"/>
                </a:solidFill>
              </a:rPr>
              <a:t>Computing Estimation</a:t>
            </a:r>
            <a:endParaRPr b="1" i="1">
              <a:solidFill>
                <a:srgbClr val="FF0000"/>
              </a:solidFill>
            </a:endParaRPr>
          </a:p>
          <a:p>
            <a:pPr indent="-342900" lvl="0" marL="457200" rtl="0" algn="l">
              <a:lnSpc>
                <a:spcPct val="100000"/>
              </a:lnSpc>
              <a:spcBef>
                <a:spcPts val="0"/>
              </a:spcBef>
              <a:spcAft>
                <a:spcPts val="0"/>
              </a:spcAft>
              <a:buClr>
                <a:schemeClr val="dk1"/>
              </a:buClr>
              <a:buSzPts val="1800"/>
              <a:buChar char="●"/>
            </a:pPr>
            <a:r>
              <a:rPr lang="en-GB">
                <a:solidFill>
                  <a:schemeClr val="dk1"/>
                </a:solidFill>
              </a:rPr>
              <a:t>Hardware: Single NVIDIA A100 GPU (40 GB VRAM)</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lang="en-GB">
                <a:solidFill>
                  <a:schemeClr val="dk1"/>
                </a:solidFill>
              </a:rPr>
              <a:t>Approximate time: Around 80 hours for indexing and 80 hours for inference </a:t>
            </a:r>
            <a:endParaRPr>
              <a:solidFill>
                <a:schemeClr val="dk1"/>
              </a:solidFill>
            </a:endParaRPr>
          </a:p>
          <a:p>
            <a:pPr indent="0" lvl="0" marL="0" rtl="0" algn="l">
              <a:lnSpc>
                <a:spcPct val="100000"/>
              </a:lnSpc>
              <a:spcBef>
                <a:spcPts val="1000"/>
              </a:spcBef>
              <a:spcAft>
                <a:spcPts val="0"/>
              </a:spcAft>
              <a:buSzPts val="1800"/>
              <a:buNone/>
            </a:pPr>
            <a:r>
              <a:rPr b="1" lang="en-GB" u="sng">
                <a:solidFill>
                  <a:schemeClr val="dk1"/>
                </a:solidFill>
              </a:rPr>
              <a:t>Model Checkpoints and Codebase</a:t>
            </a:r>
            <a:endParaRPr b="1" i="1">
              <a:solidFill>
                <a:srgbClr val="FF0000"/>
              </a:solidFill>
            </a:endParaRPr>
          </a:p>
          <a:p>
            <a:pPr indent="-342900" lvl="0" marL="457200" rtl="0" algn="l">
              <a:lnSpc>
                <a:spcPct val="100000"/>
              </a:lnSpc>
              <a:spcBef>
                <a:spcPts val="0"/>
              </a:spcBef>
              <a:spcAft>
                <a:spcPts val="0"/>
              </a:spcAft>
              <a:buClr>
                <a:schemeClr val="dk1"/>
              </a:buClr>
              <a:buSzPts val="1800"/>
              <a:buChar char="●"/>
            </a:pPr>
            <a:r>
              <a:rPr lang="en-GB">
                <a:solidFill>
                  <a:schemeClr val="dk1"/>
                </a:solidFill>
              </a:rPr>
              <a:t>Qwen2.5-3B-Instruct, LLaMA-3.3-3B, Phi-3.5-mini-instruct</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lang="en-GB">
                <a:solidFill>
                  <a:schemeClr val="dk1"/>
                </a:solidFill>
              </a:rPr>
              <a:t>Built upon MiniRAG and LightRAG repository</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